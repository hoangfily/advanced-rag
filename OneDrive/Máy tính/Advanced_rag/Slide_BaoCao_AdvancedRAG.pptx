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C98A2C"/>
                </a:solidFill>
                <a:latin typeface="Segoe UI"/>
              </a:rPr>
              <a:t>BÁO CÁO BÀI TẬP LỚN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XÂY DỰNG HỆ THỐNG ADVANCED RAG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(RETRIEVAL-AUGMENTED GENERATION)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CFDDD9"/>
                </a:solidFill>
                <a:latin typeface="Segoe UI"/>
              </a:rPr>
              <a:t>Ứng dụng truy vấn tài liệu nội bộ doanh nghiệp bằng tiếng Việt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8A2C"/>
                </a:solidFill>
                <a:latin typeface="Segoe UI"/>
              </a:rPr>
              <a:t>SINH VIÊN THỰC HIỆN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399"/>
            <a:ext cx="4206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Nguyễn Huy Hoàng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343399"/>
            <a:ext cx="1828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CFDDD9"/>
                </a:solidFill>
                <a:latin typeface="Consolas"/>
              </a:rPr>
              <a:t>24103143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72583"/>
            <a:ext cx="4206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Nguyễn Ngọc Trình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4672583"/>
            <a:ext cx="1828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CFDDD9"/>
                </a:solidFill>
                <a:latin typeface="Consolas"/>
              </a:rPr>
              <a:t>24100096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01767"/>
            <a:ext cx="4206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Giáp Tuấn Minh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5001767"/>
            <a:ext cx="1828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CFDDD9"/>
                </a:solidFill>
                <a:latin typeface="Consolas"/>
              </a:rPr>
              <a:t>24100368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30951"/>
            <a:ext cx="4206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Nguyễn Đình Quyền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5330951"/>
            <a:ext cx="1828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CFDDD9"/>
                </a:solidFill>
                <a:latin typeface="Consolas"/>
              </a:rPr>
              <a:t>24100159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977639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98A2C"/>
                </a:solidFill>
                <a:latin typeface="Segoe UI"/>
              </a:rPr>
              <a:t>THÔNG TIN LỚP HỌC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343399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GVHD: ThS. Nguyễn Văn Sơn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690871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Lớp: CSE703065-2-3-25(N01)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B6E64"/>
                </a:solidFill>
                <a:latin typeface="Segoe UI"/>
              </a:rPr>
              <a:t>TỔNG QUAN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0282B"/>
                </a:solidFill>
                <a:latin typeface="Segoe UI Semibold"/>
              </a:rPr>
              <a:t>Nội dung trình bày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05840" cy="40640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B5B60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2B6E64"/>
                </a:solidFill>
                <a:latin typeface="Segoe UI"/>
              </a:rPr>
              <a:t>— </a:t>
            </a:r>
            <a:r>
              <a:rPr sz="2000">
                <a:solidFill>
                  <a:srgbClr val="20282B"/>
                </a:solidFill>
                <a:latin typeface="Segoe UI"/>
              </a:rPr>
              <a:t>Đặt vấn đề &amp; mục tiêu đề tài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2B6E64"/>
                </a:solidFill>
                <a:latin typeface="Segoe UI"/>
              </a:rPr>
              <a:t>— </a:t>
            </a:r>
            <a:r>
              <a:rPr sz="2000">
                <a:solidFill>
                  <a:srgbClr val="20282B"/>
                </a:solidFill>
                <a:latin typeface="Segoe UI"/>
              </a:rPr>
              <a:t>Kiến trúc hệ thống &amp; công nghệ sử dụng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2B6E64"/>
                </a:solidFill>
                <a:latin typeface="Segoe UI"/>
              </a:rPr>
              <a:t>— </a:t>
            </a:r>
            <a:r>
              <a:rPr sz="2000">
                <a:solidFill>
                  <a:srgbClr val="20282B"/>
                </a:solidFill>
                <a:latin typeface="Segoe UI"/>
              </a:rPr>
              <a:t>Chi tiết cài đặt: Ingestion, Retrieval, Query Processing, Generation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2B6E64"/>
                </a:solidFill>
                <a:latin typeface="Segoe UI"/>
              </a:rPr>
              <a:t>— </a:t>
            </a:r>
            <a:r>
              <a:rPr sz="2000">
                <a:solidFill>
                  <a:srgbClr val="20282B"/>
                </a:solidFill>
                <a:latin typeface="Segoe UI"/>
              </a:rPr>
              <a:t>Vấn đề thực tế gặp phải &amp; cách khắc phục (case study)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2B6E64"/>
                </a:solidFill>
                <a:latin typeface="Segoe UI"/>
              </a:rPr>
              <a:t>— </a:t>
            </a:r>
            <a:r>
              <a:rPr sz="2000">
                <a:solidFill>
                  <a:srgbClr val="20282B"/>
                </a:solidFill>
                <a:latin typeface="Segoe UI"/>
              </a:rPr>
              <a:t>Demo ứng dụng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2B6E64"/>
                </a:solidFill>
                <a:latin typeface="Segoe UI"/>
              </a:rPr>
              <a:t>— </a:t>
            </a:r>
            <a:r>
              <a:rPr sz="2000">
                <a:solidFill>
                  <a:srgbClr val="20282B"/>
                </a:solidFill>
                <a:latin typeface="Segoe UI"/>
              </a:rPr>
              <a:t>Đánh giá định lượng (Recall@5, MRR)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2B6E64"/>
                </a:solidFill>
                <a:latin typeface="Segoe UI"/>
              </a:rPr>
              <a:t>— </a:t>
            </a:r>
            <a:r>
              <a:rPr sz="2000">
                <a:solidFill>
                  <a:srgbClr val="20282B"/>
                </a:solidFill>
                <a:latin typeface="Segoe UI"/>
              </a:rPr>
              <a:t>Kết luận &amp;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B6E64"/>
                </a:solidFill>
                <a:latin typeface="Segoe UI"/>
              </a:rPr>
              <a:t>CHƯƠNG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0282B"/>
                </a:solidFill>
                <a:latin typeface="Segoe UI Semibold"/>
              </a:rPr>
              <a:t>Đặt vấn đề &amp; Mục tiêu đề tài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05840" cy="40640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B5B60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B6E64"/>
                </a:solidFill>
                <a:latin typeface="Segoe UI Semibold"/>
              </a:rPr>
              <a:t>Hạn chế của LLM / RAG cơ bản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C98A2C"/>
                </a:solidFill>
                <a:latin typeface="Segoe UI"/>
              </a:rPr>
              <a:t>— </a:t>
            </a:r>
            <a:r>
              <a:rPr sz="1600">
                <a:solidFill>
                  <a:srgbClr val="20282B"/>
                </a:solidFill>
                <a:latin typeface="Segoe UI"/>
              </a:rPr>
              <a:t>LLM có kiến thức đóng băng, không biết tài liệu nội bộ doanh nghiệp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C98A2C"/>
                </a:solidFill>
                <a:latin typeface="Segoe UI"/>
              </a:rPr>
              <a:t>— </a:t>
            </a:r>
            <a:r>
              <a:rPr sz="1600">
                <a:solidFill>
                  <a:srgbClr val="20282B"/>
                </a:solidFill>
                <a:latin typeface="Segoe UI"/>
              </a:rPr>
              <a:t>Dễ "ảo giác" (hallucination) khi thiếu dữ kiện thật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C98A2C"/>
                </a:solidFill>
                <a:latin typeface="Segoe UI"/>
              </a:rPr>
              <a:t>— </a:t>
            </a:r>
            <a:r>
              <a:rPr sz="1600">
                <a:solidFill>
                  <a:srgbClr val="20282B"/>
                </a:solidFill>
                <a:latin typeface="Segoe UI"/>
              </a:rPr>
              <a:t>RAG cơ bản chỉ tìm bằng embedding — bỏ sót từ khoá/số liệu chính xác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C98A2C"/>
                </a:solidFill>
                <a:latin typeface="Segoe UI"/>
              </a:rPr>
              <a:t>— </a:t>
            </a:r>
            <a:r>
              <a:rPr sz="1600">
                <a:solidFill>
                  <a:srgbClr val="20282B"/>
                </a:solidFill>
                <a:latin typeface="Segoe UI"/>
              </a:rPr>
              <a:t>Câu hỏi phức tạp, nhiều bước thì tìm 1 lần là chưa đủ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B6E64"/>
                </a:solidFill>
                <a:latin typeface="Segoe UI Semibold"/>
              </a:rPr>
              <a:t>Mục tiêu đề tài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2B6E64"/>
                </a:solidFill>
                <a:latin typeface="Segoe UI"/>
              </a:rPr>
              <a:t>— </a:t>
            </a:r>
            <a:r>
              <a:rPr sz="1600">
                <a:solidFill>
                  <a:srgbClr val="20282B"/>
                </a:solidFill>
                <a:latin typeface="Segoe UI"/>
              </a:rPr>
              <a:t>Trả lời câu hỏi tiếng Việt dựa trên tài liệu thật (FSoft_HR.pdf)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2B6E64"/>
                </a:solidFill>
                <a:latin typeface="Segoe UI"/>
              </a:rPr>
              <a:t>— </a:t>
            </a:r>
            <a:r>
              <a:rPr sz="1600">
                <a:solidFill>
                  <a:srgbClr val="20282B"/>
                </a:solidFill>
                <a:latin typeface="Segoe UI"/>
              </a:rPr>
              <a:t>Áp dụng kỹ thuật nâng cao: rewrite, multi-hop, expansion, hybrid search, rerank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2B6E64"/>
                </a:solidFill>
                <a:latin typeface="Segoe UI"/>
              </a:rPr>
              <a:t>— </a:t>
            </a:r>
            <a:r>
              <a:rPr sz="1600">
                <a:solidFill>
                  <a:srgbClr val="20282B"/>
                </a:solidFill>
                <a:latin typeface="Segoe UI"/>
              </a:rPr>
              <a:t>Refactor lõi hệ thống bằng LangChain (core/community/classic) + Pydantic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2B6E64"/>
                </a:solidFill>
                <a:latin typeface="Segoe UI"/>
              </a:rPr>
              <a:t>— </a:t>
            </a:r>
            <a:r>
              <a:rPr sz="1600">
                <a:solidFill>
                  <a:srgbClr val="20282B"/>
                </a:solidFill>
                <a:latin typeface="Segoe UI"/>
              </a:rPr>
              <a:t>Cung cấp API (FastAPI) và giao diện web (Streamlit)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B6E64"/>
                </a:solidFill>
                <a:latin typeface="Segoe UI"/>
              </a:rPr>
              <a:t>CHƯƠNG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0282B"/>
                </a:solidFill>
                <a:latin typeface="Segoe UI Semibold"/>
              </a:rPr>
              <a:t>Kiến trúc tổng thể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05840" cy="40640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B5B60"/>
                </a:solidFill>
                <a:latin typeface="Segoe UI"/>
              </a:rPr>
              <a:t>3</a:t>
            </a:r>
          </a:p>
        </p:txBody>
      </p:sp>
      <p:pic>
        <p:nvPicPr>
          <p:cNvPr id="7" name="Picture 6" descr="pipeline_diagram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0698480" cy="44739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B6E64"/>
                </a:solidFill>
                <a:latin typeface="Segoe UI"/>
              </a:rPr>
              <a:t>CHƯƠNG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0282B"/>
                </a:solidFill>
                <a:latin typeface="Segoe UI Semibold"/>
              </a:rPr>
              <a:t>Công nghệ sử dụng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05840" cy="40640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B5B60"/>
                </a:solidFill>
                <a:latin typeface="Segoe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5166360" cy="896112"/>
          </a:xfrm>
          <a:prstGeom prst="roundRect">
            <a:avLst>
              <a:gd name="adj" fmla="val 10000"/>
            </a:avLst>
          </a:prstGeom>
          <a:solidFill>
            <a:srgbClr val="FCFBF7"/>
          </a:solidFill>
          <a:ln w="9525">
            <a:solidFill>
              <a:srgbClr val="D9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/>
            <a:r>
              <a:rPr sz="1450" b="1">
                <a:solidFill>
                  <a:srgbClr val="2B6E64"/>
                </a:solidFill>
                <a:latin typeface="Segoe UI"/>
              </a:rPr>
              <a:t>FastAPI, Uvicorn</a:t>
            </a:r>
          </a:p>
          <a:p>
            <a:r>
              <a:rPr sz="1250">
                <a:solidFill>
                  <a:srgbClr val="4B5B60"/>
                </a:solidFill>
                <a:latin typeface="Segoe UI"/>
              </a:rPr>
              <a:t>Web API — /ingest, /query, /health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166360" cy="896112"/>
          </a:xfrm>
          <a:prstGeom prst="roundRect">
            <a:avLst>
              <a:gd name="adj" fmla="val 10000"/>
            </a:avLst>
          </a:prstGeom>
          <a:solidFill>
            <a:srgbClr val="FCFBF7"/>
          </a:solidFill>
          <a:ln w="9525">
            <a:solidFill>
              <a:srgbClr val="D9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/>
            <a:r>
              <a:rPr sz="1450" b="1">
                <a:solidFill>
                  <a:srgbClr val="2B6E64"/>
                </a:solidFill>
                <a:latin typeface="Segoe UI"/>
              </a:rPr>
              <a:t>Streamlit</a:t>
            </a:r>
          </a:p>
          <a:p>
            <a:r>
              <a:rPr sz="1250">
                <a:solidFill>
                  <a:srgbClr val="4B5B60"/>
                </a:solidFill>
                <a:latin typeface="Segoe UI"/>
              </a:rPr>
              <a:t>Giao diện người dùng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15768"/>
            <a:ext cx="5166360" cy="896112"/>
          </a:xfrm>
          <a:prstGeom prst="roundRect">
            <a:avLst>
              <a:gd name="adj" fmla="val 10000"/>
            </a:avLst>
          </a:prstGeom>
          <a:solidFill>
            <a:srgbClr val="FCFBF7"/>
          </a:solidFill>
          <a:ln w="9525">
            <a:solidFill>
              <a:srgbClr val="D9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/>
            <a:r>
              <a:rPr sz="1450" b="1">
                <a:solidFill>
                  <a:srgbClr val="2B6E64"/>
                </a:solidFill>
                <a:latin typeface="Segoe UI"/>
              </a:rPr>
              <a:t>ChromaDB (langchain-community)</a:t>
            </a:r>
          </a:p>
          <a:p>
            <a:r>
              <a:rPr sz="1250">
                <a:solidFill>
                  <a:srgbClr val="4B5B60"/>
                </a:solidFill>
                <a:latin typeface="Segoe UI"/>
              </a:rPr>
              <a:t>Vector database — dense retrieval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15768"/>
            <a:ext cx="5166360" cy="896112"/>
          </a:xfrm>
          <a:prstGeom prst="roundRect">
            <a:avLst>
              <a:gd name="adj" fmla="val 10000"/>
            </a:avLst>
          </a:prstGeom>
          <a:solidFill>
            <a:srgbClr val="FCFBF7"/>
          </a:solidFill>
          <a:ln w="9525">
            <a:solidFill>
              <a:srgbClr val="D9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/>
            <a:r>
              <a:rPr sz="1450" b="1">
                <a:solidFill>
                  <a:srgbClr val="2B6E64"/>
                </a:solidFill>
                <a:latin typeface="Segoe UI"/>
              </a:rPr>
              <a:t>BM25Retriever (langchain-community)</a:t>
            </a:r>
          </a:p>
          <a:p>
            <a:r>
              <a:rPr sz="1250">
                <a:solidFill>
                  <a:srgbClr val="4B5B60"/>
                </a:solidFill>
                <a:latin typeface="Segoe UI"/>
              </a:rPr>
              <a:t>Sparse retrieval theo từ khoá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9896"/>
            <a:ext cx="5166360" cy="896112"/>
          </a:xfrm>
          <a:prstGeom prst="roundRect">
            <a:avLst>
              <a:gd name="adj" fmla="val 10000"/>
            </a:avLst>
          </a:prstGeom>
          <a:solidFill>
            <a:srgbClr val="FCFBF7"/>
          </a:solidFill>
          <a:ln w="9525">
            <a:solidFill>
              <a:srgbClr val="D9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/>
            <a:r>
              <a:rPr sz="1450" b="1">
                <a:solidFill>
                  <a:srgbClr val="2B6E64"/>
                </a:solidFill>
                <a:latin typeface="Segoe UI"/>
              </a:rPr>
              <a:t>EnsembleRetriever (langchain-classic)</a:t>
            </a:r>
          </a:p>
          <a:p>
            <a:r>
              <a:rPr sz="1250">
                <a:solidFill>
                  <a:srgbClr val="4B5B60"/>
                </a:solidFill>
                <a:latin typeface="Segoe UI"/>
              </a:rPr>
              <a:t>Hợp nhất Dense + Sparse bằng RRF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739896"/>
            <a:ext cx="5166360" cy="896112"/>
          </a:xfrm>
          <a:prstGeom prst="roundRect">
            <a:avLst>
              <a:gd name="adj" fmla="val 10000"/>
            </a:avLst>
          </a:prstGeom>
          <a:solidFill>
            <a:srgbClr val="FCFBF7"/>
          </a:solidFill>
          <a:ln w="9525">
            <a:solidFill>
              <a:srgbClr val="D9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/>
            <a:r>
              <a:rPr sz="1450" b="1">
                <a:solidFill>
                  <a:srgbClr val="2B6E64"/>
                </a:solidFill>
                <a:latin typeface="Segoe UI"/>
              </a:rPr>
              <a:t>sentence-transformers CrossEncoder</a:t>
            </a:r>
          </a:p>
          <a:p>
            <a:r>
              <a:rPr sz="1250">
                <a:solidFill>
                  <a:srgbClr val="4B5B60"/>
                </a:solidFill>
                <a:latin typeface="Segoe UI"/>
              </a:rPr>
              <a:t>Rerank top-k ứng viên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764024"/>
            <a:ext cx="5166360" cy="896112"/>
          </a:xfrm>
          <a:prstGeom prst="roundRect">
            <a:avLst>
              <a:gd name="adj" fmla="val 10000"/>
            </a:avLst>
          </a:prstGeom>
          <a:solidFill>
            <a:srgbClr val="FCFBF7"/>
          </a:solidFill>
          <a:ln w="9525">
            <a:solidFill>
              <a:srgbClr val="D9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/>
            <a:r>
              <a:rPr sz="1450" b="1">
                <a:solidFill>
                  <a:srgbClr val="2B6E64"/>
                </a:solidFill>
                <a:latin typeface="Segoe UI"/>
              </a:rPr>
              <a:t>Google Gemini (google-genai)</a:t>
            </a:r>
          </a:p>
          <a:p>
            <a:r>
              <a:rPr sz="1250">
                <a:solidFill>
                  <a:srgbClr val="4B5B60"/>
                </a:solidFill>
                <a:latin typeface="Segoe UI"/>
              </a:rPr>
              <a:t>Embedding + sinh câu trả lời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764024"/>
            <a:ext cx="5166360" cy="896112"/>
          </a:xfrm>
          <a:prstGeom prst="roundRect">
            <a:avLst>
              <a:gd name="adj" fmla="val 10000"/>
            </a:avLst>
          </a:prstGeom>
          <a:solidFill>
            <a:srgbClr val="FCFBF7"/>
          </a:solidFill>
          <a:ln w="9525">
            <a:solidFill>
              <a:srgbClr val="D9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/>
            <a:r>
              <a:rPr sz="1450" b="1">
                <a:solidFill>
                  <a:srgbClr val="2B6E64"/>
                </a:solidFill>
                <a:latin typeface="Segoe UI"/>
              </a:rPr>
              <a:t>LangChain-core (PromptTemplate, LCEL)</a:t>
            </a:r>
          </a:p>
          <a:p>
            <a:r>
              <a:rPr sz="1250">
                <a:solidFill>
                  <a:srgbClr val="4B5B60"/>
                </a:solidFill>
                <a:latin typeface="Segoe UI"/>
              </a:rPr>
              <a:t>Điều phối prompt → model → parser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788152"/>
            <a:ext cx="5166360" cy="896112"/>
          </a:xfrm>
          <a:prstGeom prst="roundRect">
            <a:avLst>
              <a:gd name="adj" fmla="val 10000"/>
            </a:avLst>
          </a:prstGeom>
          <a:solidFill>
            <a:srgbClr val="FCFBF7"/>
          </a:solidFill>
          <a:ln w="9525">
            <a:solidFill>
              <a:srgbClr val="D9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/>
            <a:r>
              <a:rPr sz="1450" b="1">
                <a:solidFill>
                  <a:srgbClr val="2B6E64"/>
                </a:solidFill>
                <a:latin typeface="Segoe UI"/>
              </a:rPr>
              <a:t>Pydantic / pydantic-settings</a:t>
            </a:r>
          </a:p>
          <a:p>
            <a:r>
              <a:rPr sz="1250">
                <a:solidFill>
                  <a:srgbClr val="4B5B60"/>
                </a:solidFill>
                <a:latin typeface="Segoe UI"/>
              </a:rPr>
              <a:t>Validate dữ liệu &amp; cấu hình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B6E64"/>
                </a:solidFill>
                <a:latin typeface="Segoe UI"/>
              </a:rPr>
              <a:t>CHƯƠNG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0282B"/>
                </a:solidFill>
                <a:latin typeface="Segoe UI Semibold"/>
              </a:rPr>
              <a:t>Module: Ingestion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05840" cy="40640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B5B60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2B6E64"/>
                </a:solidFill>
                <a:latin typeface="Segoe UI"/>
              </a:rPr>
              <a:t>— </a:t>
            </a:r>
            <a:r>
              <a:rPr sz="1600">
                <a:solidFill>
                  <a:srgbClr val="20282B"/>
                </a:solidFill>
                <a:latin typeface="Segoe UI"/>
              </a:rPr>
              <a:t>loaders.py: đọc .txt / .pdf (qua pypdf), chuẩn hoá đường dẫn bằng Path.as_posix()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2B6E64"/>
                </a:solidFill>
                <a:latin typeface="Segoe UI"/>
              </a:rPr>
              <a:t>— </a:t>
            </a:r>
            <a:r>
              <a:rPr sz="1600">
                <a:solidFill>
                  <a:srgbClr val="20282B"/>
                </a:solidFill>
                <a:latin typeface="Segoe UI"/>
              </a:rPr>
              <a:t>chunking.py: cắt văn bản thành đoạn 512 ký tự, chồng lấn (overlap) 64 ký tự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600" b="1">
                <a:solidFill>
                  <a:srgbClr val="2B6E64"/>
                </a:solidFill>
                <a:latin typeface="Segoe UI"/>
              </a:rPr>
              <a:t>— </a:t>
            </a:r>
            <a:r>
              <a:rPr sz="1600">
                <a:solidFill>
                  <a:srgbClr val="20282B"/>
                </a:solidFill>
                <a:latin typeface="Segoe UI"/>
              </a:rPr>
              <a:t>embedder.py: gọi Gemini embed_content để sinh vector cho từng đoạn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91640"/>
            <a:ext cx="4572000" cy="2468880"/>
          </a:xfrm>
          <a:prstGeom prst="roundRect">
            <a:avLst>
              <a:gd name="adj" fmla="val 4000"/>
            </a:avLst>
          </a:prstGeom>
          <a:solidFill>
            <a:srgbClr val="F2F1EC"/>
          </a:solidFill>
          <a:ln w="9525">
            <a:solidFill>
              <a:srgbClr val="D9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28016"/>
          <a:lstStyle/>
          <a:p>
            <a:pPr algn="ctr"/>
            <a:r>
              <a:rPr sz="1300">
                <a:solidFill>
                  <a:srgbClr val="20282B"/>
                </a:solidFill>
                <a:latin typeface="Consolas"/>
              </a:rPr>
              <a:t>def chunk_text(text, source,</a:t>
            </a:r>
          </a:p>
          <a:p>
            <a:r>
              <a:rPr sz="1300">
                <a:solidFill>
                  <a:srgbClr val="20282B"/>
                </a:solidFill>
                <a:latin typeface="Consolas"/>
              </a:rPr>
              <a:t>               chunk_size, chunk_overlap):</a:t>
            </a:r>
          </a:p>
          <a:p>
            <a:r>
              <a:rPr sz="1300">
                <a:solidFill>
                  <a:srgbClr val="20282B"/>
                </a:solidFill>
                <a:latin typeface="Consolas"/>
              </a:rPr>
              <a:t>    ...</a:t>
            </a:r>
          </a:p>
          <a:p>
            <a:r>
              <a:rPr sz="1300">
                <a:solidFill>
                  <a:srgbClr val="20282B"/>
                </a:solidFill>
                <a:latin typeface="Consolas"/>
              </a:rPr>
              <a:t>    while start &lt; len(text):</a:t>
            </a:r>
          </a:p>
          <a:p>
            <a:r>
              <a:rPr sz="1300">
                <a:solidFill>
                  <a:srgbClr val="20282B"/>
                </a:solidFill>
                <a:latin typeface="Consolas"/>
              </a:rPr>
              <a:t>        end = start + chunk_size</a:t>
            </a:r>
          </a:p>
          <a:p>
            <a:r>
              <a:rPr sz="1300">
                <a:solidFill>
                  <a:srgbClr val="20282B"/>
                </a:solidFill>
                <a:latin typeface="Consolas"/>
              </a:rPr>
              <a:t>        chunks.append(Chunk(</a:t>
            </a:r>
          </a:p>
          <a:p>
            <a:r>
              <a:rPr sz="1300">
                <a:solidFill>
                  <a:srgbClr val="20282B"/>
                </a:solidFill>
                <a:latin typeface="Consolas"/>
              </a:rPr>
              <a:t>            chunk_id=f"{source}::{index}",</a:t>
            </a:r>
          </a:p>
          <a:p>
            <a:r>
              <a:rPr sz="1300">
                <a:solidFill>
                  <a:srgbClr val="20282B"/>
                </a:solidFill>
                <a:latin typeface="Consolas"/>
              </a:rPr>
              <a:t>            text=text[start:end]))</a:t>
            </a:r>
          </a:p>
          <a:p>
            <a:r>
              <a:rPr sz="1300">
                <a:solidFill>
                  <a:srgbClr val="20282B"/>
                </a:solidFill>
                <a:latin typeface="Consolas"/>
              </a:rPr>
              <a:t>        start += chunk_size - chunk_overlap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B6E64"/>
                </a:solidFill>
                <a:latin typeface="Segoe UI"/>
              </a:rPr>
              <a:t>CHƯƠNG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0282B"/>
                </a:solidFill>
                <a:latin typeface="Segoe UI Semibold"/>
              </a:rPr>
              <a:t>Module: Retrieval (Hybrid Search + Rerank)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05840" cy="40640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B5B60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760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2B6E64"/>
                </a:solidFill>
                <a:latin typeface="Segoe UI"/>
              </a:rPr>
              <a:t>— </a:t>
            </a:r>
            <a:r>
              <a:rPr sz="1600">
                <a:solidFill>
                  <a:srgbClr val="20282B"/>
                </a:solidFill>
                <a:latin typeface="Segoe UI"/>
              </a:rPr>
              <a:t>VectorStore: bọc Chroma (langchain-community), Dense retrieval bằng embedding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2B6E64"/>
                </a:solidFill>
                <a:latin typeface="Segoe UI"/>
              </a:rPr>
              <a:t>— </a:t>
            </a:r>
            <a:r>
              <a:rPr sz="1600">
                <a:solidFill>
                  <a:srgbClr val="20282B"/>
                </a:solidFill>
                <a:latin typeface="Segoe UI"/>
              </a:rPr>
              <a:t>SparseRetriever: bọc BM25Retriever, tìm theo từ khoá chính xác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2B6E64"/>
                </a:solidFill>
                <a:latin typeface="Segoe UI"/>
              </a:rPr>
              <a:t>— </a:t>
            </a:r>
            <a:r>
              <a:rPr sz="1600">
                <a:solidFill>
                  <a:srgbClr val="20282B"/>
                </a:solidFill>
                <a:latin typeface="Segoe UI"/>
              </a:rPr>
              <a:t>HybridRetriever: EnsembleRetriever (langchain-classic) hợp nhất 2 kết quả bằng RRF, trọng số alpha validate bằng Pydantic (0 ≤ alpha ≤ 1)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2B6E64"/>
                </a:solidFill>
                <a:latin typeface="Segoe UI"/>
              </a:rPr>
              <a:t>— </a:t>
            </a:r>
            <a:r>
              <a:rPr sz="1600">
                <a:solidFill>
                  <a:srgbClr val="20282B"/>
                </a:solidFill>
                <a:latin typeface="Segoe UI"/>
              </a:rPr>
              <a:t>Reranker: CrossEncoder chấm điểm lại top-k, dedupe theo chunk_id trước khi rerank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91640"/>
            <a:ext cx="4572000" cy="2103120"/>
          </a:xfrm>
          <a:prstGeom prst="roundRect">
            <a:avLst>
              <a:gd name="adj" fmla="val 4000"/>
            </a:avLst>
          </a:prstGeom>
          <a:solidFill>
            <a:srgbClr val="F2F1EC"/>
          </a:solidFill>
          <a:ln w="9525">
            <a:solidFill>
              <a:srgbClr val="D9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28016"/>
          <a:lstStyle/>
          <a:p>
            <a:pPr algn="ctr"/>
            <a:r>
              <a:rPr sz="1300">
                <a:solidFill>
                  <a:srgbClr val="20282B"/>
                </a:solidFill>
                <a:latin typeface="Consolas"/>
              </a:rPr>
              <a:t>class HybridRetrieverConfig(BaseModel):</a:t>
            </a:r>
          </a:p>
          <a:p>
            <a:r>
              <a:rPr sz="1300">
                <a:solidFill>
                  <a:srgbClr val="20282B"/>
                </a:solidFill>
                <a:latin typeface="Consolas"/>
              </a:rPr>
              <a:t>    alpha: float = Field(</a:t>
            </a:r>
          </a:p>
          <a:p>
            <a:r>
              <a:rPr sz="1300">
                <a:solidFill>
                  <a:srgbClr val="20282B"/>
                </a:solidFill>
                <a:latin typeface="Consolas"/>
              </a:rPr>
              <a:t>        default=0.5, ge=0.0, le=1.0)</a:t>
            </a:r>
          </a:p>
          <a:p>
            <a:r>
              <a:rPr sz="1300">
                <a:solidFill>
                  <a:srgbClr val="20282B"/>
                </a:solidFill>
                <a:latin typeface="Consolas"/>
              </a:rPr>
              <a:t>    top_k_dense: int = Field(</a:t>
            </a:r>
          </a:p>
          <a:p>
            <a:r>
              <a:rPr sz="1300">
                <a:solidFill>
                  <a:srgbClr val="20282B"/>
                </a:solidFill>
                <a:latin typeface="Consolas"/>
              </a:rPr>
              <a:t>        default=20, gt=0)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B6E64"/>
                </a:solidFill>
                <a:latin typeface="Segoe UI"/>
              </a:rPr>
              <a:t>CHƯƠNG 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0282B"/>
                </a:solidFill>
                <a:latin typeface="Segoe UI Semibold"/>
              </a:rPr>
              <a:t>Module: Query 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05840" cy="40640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B5B60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2B6E64"/>
                </a:solidFill>
                <a:latin typeface="Segoe UI"/>
              </a:rPr>
              <a:t>— </a:t>
            </a:r>
            <a:r>
              <a:rPr sz="1700">
                <a:solidFill>
                  <a:srgbClr val="20282B"/>
                </a:solidFill>
                <a:latin typeface="Segoe UI"/>
              </a:rPr>
              <a:t>Rewrite: viết lại câu hỏi (thiếu dấu, viết tắt) cho rõ nghĩa hơn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2B6E64"/>
                </a:solidFill>
                <a:latin typeface="Segoe UI"/>
              </a:rPr>
              <a:t>— </a:t>
            </a:r>
            <a:r>
              <a:rPr sz="1700">
                <a:solidFill>
                  <a:srgbClr val="20282B"/>
                </a:solidFill>
                <a:latin typeface="Segoe UI"/>
              </a:rPr>
              <a:t>Multi-hop decomposition: tách câu hỏi phức tạp thành các câu hỏi con truy xuất riêng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2B6E64"/>
                </a:solidFill>
                <a:latin typeface="Segoe UI"/>
              </a:rPr>
              <a:t>— </a:t>
            </a:r>
            <a:r>
              <a:rPr sz="1700">
                <a:solidFill>
                  <a:srgbClr val="20282B"/>
                </a:solidFill>
                <a:latin typeface="Segoe UI"/>
              </a:rPr>
              <a:t>Query expansion (tuỳ chọn): sinh thêm biến thể câu hỏi để tăng khả năng khớp từ vựng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2B6E64"/>
                </a:solidFill>
                <a:latin typeface="Segoe UI"/>
              </a:rPr>
              <a:t>— </a:t>
            </a:r>
            <a:r>
              <a:rPr sz="1700">
                <a:solidFill>
                  <a:srgbClr val="20282B"/>
                </a:solidFill>
                <a:latin typeface="Segoe UI"/>
              </a:rPr>
              <a:t>Cả 3 bước dùng chung khuôn mẫu LCEL: prompt | llm | parser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60520"/>
            <a:ext cx="10607040" cy="1737360"/>
          </a:xfrm>
          <a:prstGeom prst="roundRect">
            <a:avLst>
              <a:gd name="adj" fmla="val 4000"/>
            </a:avLst>
          </a:prstGeom>
          <a:solidFill>
            <a:srgbClr val="F2F1EC"/>
          </a:solidFill>
          <a:ln w="9525">
            <a:solidFill>
              <a:srgbClr val="D9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28016"/>
          <a:lstStyle/>
          <a:p>
            <a:pPr algn="ctr"/>
            <a:r>
              <a:rPr sz="1500">
                <a:solidFill>
                  <a:srgbClr val="20282B"/>
                </a:solidFill>
                <a:latin typeface="Consolas"/>
              </a:rPr>
              <a:t>def rewrite_query(query, llm_client):</a:t>
            </a:r>
          </a:p>
          <a:p>
            <a:r>
              <a:rPr sz="1500">
                <a:solidFill>
                  <a:srgbClr val="20282B"/>
                </a:solidFill>
                <a:latin typeface="Consolas"/>
              </a:rPr>
              <a:t>    chain = QUERY_REWRITE_TEMPLATE | llm_client | SingleQuestionOutputParser()</a:t>
            </a:r>
          </a:p>
          <a:p>
            <a:r>
              <a:rPr sz="1500">
                <a:solidFill>
                  <a:srgbClr val="20282B"/>
                </a:solidFill>
                <a:latin typeface="Consolas"/>
              </a:rPr>
              <a:t>    return chain.invoke({"question": query})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B6E64"/>
                </a:solidFill>
                <a:latin typeface="Segoe UI"/>
              </a:rPr>
              <a:t>CHƯƠNG 4.4 – 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0282B"/>
                </a:solidFill>
                <a:latin typeface="Segoe UI Semibold"/>
              </a:rPr>
              <a:t>Module: Generation &amp; RagPipeline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05840" cy="40640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B5B60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2B6E64"/>
                </a:solidFill>
                <a:latin typeface="Segoe UI"/>
              </a:rPr>
              <a:t>— </a:t>
            </a:r>
            <a:r>
              <a:rPr sz="1700">
                <a:solidFill>
                  <a:srgbClr val="20282B"/>
                </a:solidFill>
                <a:latin typeface="Segoe UI"/>
              </a:rPr>
              <a:t>LLMClient kế thừa langchain_core LLM → là một Runnable thực thụ, ghép được vào LCEL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2B6E64"/>
                </a:solidFill>
                <a:latin typeface="Segoe UI"/>
              </a:rPr>
              <a:t>— </a:t>
            </a:r>
            <a:r>
              <a:rPr sz="1700">
                <a:solidFill>
                  <a:srgbClr val="20282B"/>
                </a:solidFill>
                <a:latin typeface="Segoe UI"/>
              </a:rPr>
              <a:t>Prompt trả lời cuối có chỉ dẫn: trả lời cùng ngôn ngữ với câu hỏi người dùng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2B6E64"/>
                </a:solidFill>
                <a:latin typeface="Segoe UI"/>
              </a:rPr>
              <a:t>— </a:t>
            </a:r>
            <a:r>
              <a:rPr sz="1700">
                <a:solidFill>
                  <a:srgbClr val="20282B"/>
                </a:solidFill>
                <a:latin typeface="Segoe UI"/>
              </a:rPr>
              <a:t>RagPipeline điều phối toàn bộ: ingest() và run() — nhạc trưởng của cả hệ thống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94760"/>
            <a:ext cx="10607040" cy="2286000"/>
          </a:xfrm>
          <a:prstGeom prst="roundRect">
            <a:avLst>
              <a:gd name="adj" fmla="val 4000"/>
            </a:avLst>
          </a:prstGeom>
          <a:solidFill>
            <a:srgbClr val="F2F1EC"/>
          </a:solidFill>
          <a:ln w="9525">
            <a:solidFill>
              <a:srgbClr val="D9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28016"/>
          <a:lstStyle/>
          <a:p>
            <a:pPr algn="ctr"/>
            <a:r>
              <a:rPr sz="1400">
                <a:solidFill>
                  <a:srgbClr val="20282B"/>
                </a:solidFill>
                <a:latin typeface="Consolas"/>
              </a:rPr>
              <a:t>class LLMClient(LLM):</a:t>
            </a:r>
          </a:p>
          <a:p>
            <a:r>
              <a:rPr sz="1400">
                <a:solidFill>
                  <a:srgbClr val="20282B"/>
                </a:solidFill>
                <a:latin typeface="Consolas"/>
              </a:rPr>
              <a:t>    model_name: str</a:t>
            </a:r>
          </a:p>
          <a:p>
            <a:r>
              <a:rPr sz="1400">
                <a:solidFill>
                  <a:srgbClr val="20282B"/>
                </a:solidFill>
                <a:latin typeface="Consolas"/>
              </a:rPr>
              <a:t>    api_key: str</a:t>
            </a:r>
          </a:p>
          <a:p>
            <a:r>
              <a:rPr sz="1400">
                <a:solidFill>
                  <a:srgbClr val="20282B"/>
                </a:solidFill>
                <a:latin typeface="Consolas"/>
              </a:rPr>
              <a:t>    _client: genai.Client = PrivateAttr()</a:t>
            </a:r>
          </a:p>
          <a:p>
            <a:r>
              <a:rPr sz="1400">
                <a:solidFill>
                  <a:srgbClr val="20282B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20282B"/>
                </a:solidFill>
                <a:latin typeface="Consolas"/>
              </a:rPr>
              <a:t>    def _call(self, prompt, stop=None, run_manager=None, **kwargs) -&gt; str:</a:t>
            </a:r>
          </a:p>
          <a:p>
            <a:r>
              <a:rPr sz="1400">
                <a:solidFill>
                  <a:srgbClr val="20282B"/>
                </a:solidFill>
                <a:latin typeface="Consolas"/>
              </a:rPr>
              <a:t>        response = self._client.models.generate_content(</a:t>
            </a:r>
          </a:p>
          <a:p>
            <a:r>
              <a:rPr sz="1400">
                <a:solidFill>
                  <a:srgbClr val="20282B"/>
                </a:solidFill>
                <a:latin typeface="Consolas"/>
              </a:rPr>
              <a:t>            model=self.model_name, contents=prompt)</a:t>
            </a:r>
          </a:p>
          <a:p>
            <a:r>
              <a:rPr sz="1400">
                <a:solidFill>
                  <a:srgbClr val="20282B"/>
                </a:solidFill>
                <a:latin typeface="Consolas"/>
              </a:rPr>
              <a:t>        return response.text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B6E64"/>
                </a:solidFill>
                <a:latin typeface="Segoe UI"/>
              </a:rPr>
              <a:t>CHƯƠNG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0282B"/>
                </a:solidFill>
                <a:latin typeface="Segoe UI Semibold"/>
              </a:rPr>
              <a:t>Vấn đề thực tế gặp phải &amp; cách khắc phục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05840" cy="40640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B5B60"/>
                </a:solidFill>
                <a:latin typeface="Segoe U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5166360" cy="4572000"/>
          </a:xfrm>
          <a:prstGeom prst="roundRect">
            <a:avLst>
              <a:gd name="adj" fmla="val 3500"/>
            </a:avLst>
          </a:prstGeom>
          <a:solidFill>
            <a:srgbClr val="FCFBF7"/>
          </a:solidFill>
          <a:ln w="16510">
            <a:solidFill>
              <a:srgbClr val="C98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19456"/>
          <a:lstStyle/>
          <a:p>
            <a:pPr algn="ctr">
              <a:spcAft>
                <a:spcPts val="1200"/>
              </a:spcAft>
            </a:pPr>
            <a:r>
              <a:rPr sz="1700" b="1">
                <a:solidFill>
                  <a:srgbClr val="2B6E64"/>
                </a:solidFill>
                <a:latin typeface="Segoe UI Semibold"/>
              </a:rPr>
              <a:t>① Trùng lặp dữ liệu do path không chuẩn hoá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20282B"/>
                </a:solidFill>
                <a:latin typeface="Segoe UI"/>
              </a:rPr>
              <a:t>Cùng 1 file nhưng 2 script tạo chunk_id khác nhau (data\raw\... vs data/raw/...) → ingest trùng 2 lần (42 chunk thay vì 21) → top-k bị chiếm bởi bản sao, đẩy đoạn đúng ra ngoài.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20282B"/>
                </a:solidFill>
                <a:latin typeface="Segoe UI"/>
              </a:rPr>
              <a:t>Khắc phục: chuẩn hoá bằng Path(path).as_posix() ngay trong load_documents().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166360" cy="4572000"/>
          </a:xfrm>
          <a:prstGeom prst="roundRect">
            <a:avLst>
              <a:gd name="adj" fmla="val 3500"/>
            </a:avLst>
          </a:prstGeom>
          <a:solidFill>
            <a:srgbClr val="FCFBF7"/>
          </a:solidFill>
          <a:ln w="16510">
            <a:solidFill>
              <a:srgbClr val="C98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19456"/>
          <a:lstStyle/>
          <a:p>
            <a:pPr algn="ctr">
              <a:spcAft>
                <a:spcPts val="1200"/>
              </a:spcAft>
            </a:pPr>
            <a:r>
              <a:rPr sz="1700" b="1">
                <a:solidFill>
                  <a:srgbClr val="2B6E64"/>
                </a:solidFill>
                <a:latin typeface="Segoe UI Semibold"/>
              </a:rPr>
              <a:t>② LLM không tuân theo định dạng output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20282B"/>
                </a:solidFill>
                <a:latin typeface="Segoe UI"/>
              </a:rPr>
              <a:t>rewrite_query kỳ vọng 1 dòng, nhưng model đôi khi trả cả đoạn markdown liệt kê nhiều phương án → làm loãng tín hiệu tìm kiếm nghiêm trọng.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20282B"/>
                </a:solidFill>
                <a:latin typeface="Segoe UI"/>
              </a:rPr>
              <a:t>Khắc phục: viết SingleQuestionOutputParser trích dòng câu hỏi đầu tiên + ép prompt yêu cầu output 1 dòng duy nhất.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B6E64"/>
                </a:solidFill>
                <a:latin typeface="Segoe UI"/>
              </a:rPr>
              <a:t>CHƯƠNG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0282B"/>
                </a:solidFill>
                <a:latin typeface="Segoe UI Semibold"/>
              </a:rPr>
              <a:t>Demo ứng dụng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05840" cy="40640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B5B60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B6E64"/>
                </a:solidFill>
                <a:latin typeface="Segoe UI Semibold"/>
              </a:rPr>
              <a:t>Câu hỏi thử nghiệm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1">
                <a:solidFill>
                  <a:srgbClr val="20282B"/>
                </a:solidFill>
                <a:latin typeface="Segoe UI"/>
              </a:rPr>
              <a:t>“chính sách làm quá giờ như thế nào”  (tiếng Việt không dấu)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98A2C"/>
                </a:solidFill>
                <a:latin typeface="Segoe UI"/>
              </a:rPr>
              <a:t>Câu hỏi đã viết lại (rewrite_query)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71800"/>
            <a:ext cx="10607040" cy="822960"/>
          </a:xfrm>
          <a:prstGeom prst="roundRect">
            <a:avLst>
              <a:gd name="adj" fmla="val 4000"/>
            </a:avLst>
          </a:prstGeom>
          <a:solidFill>
            <a:srgbClr val="F2F1EC"/>
          </a:solidFill>
          <a:ln w="9525">
            <a:solidFill>
              <a:srgbClr val="D9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28016"/>
          <a:lstStyle/>
          <a:p>
            <a:pPr algn="ctr"/>
            <a:r>
              <a:rPr sz="1350">
                <a:solidFill>
                  <a:srgbClr val="20282B"/>
                </a:solidFill>
                <a:latin typeface="Consolas"/>
              </a:rPr>
              <a:t>"Quy định và chế độ trả lương cho thời gian làm thêm giờ (overtime)</a:t>
            </a:r>
          </a:p>
          <a:p>
            <a:r>
              <a:rPr sz="1350">
                <a:solidFill>
                  <a:srgbClr val="20282B"/>
                </a:solidFill>
                <a:latin typeface="Consolas"/>
              </a:rPr>
              <a:t>của công ty được thực hiện như thế nào?"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98A2C"/>
                </a:solidFill>
                <a:latin typeface="Segoe UI"/>
              </a:rPr>
              <a:t>Câu trả lời cuối cùng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97680"/>
            <a:ext cx="10607040" cy="1920240"/>
          </a:xfrm>
          <a:prstGeom prst="roundRect">
            <a:avLst>
              <a:gd name="adj" fmla="val 4000"/>
            </a:avLst>
          </a:prstGeom>
          <a:solidFill>
            <a:srgbClr val="F2F1EC"/>
          </a:solidFill>
          <a:ln w="9525">
            <a:solidFill>
              <a:srgbClr val="D9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28016"/>
          <a:lstStyle/>
          <a:p>
            <a:pPr algn="ctr"/>
            <a:r>
              <a:rPr sz="1400">
                <a:solidFill>
                  <a:srgbClr val="20282B"/>
                </a:solidFill>
                <a:latin typeface="Consolas"/>
              </a:rPr>
              <a:t>Số giờ làm thêm không vượt quá 60 giờ/tháng và 300 giờ/năm.</a:t>
            </a:r>
          </a:p>
          <a:p>
            <a:r>
              <a:rPr sz="1400">
                <a:solidFill>
                  <a:srgbClr val="20282B"/>
                </a:solidFill>
                <a:latin typeface="Consolas"/>
              </a:rPr>
              <a:t>Lương làm thêm giờ tính theo quy định Bộ luật Lao động.</a:t>
            </a:r>
          </a:p>
          <a:p>
            <a:r>
              <a:rPr sz="1400">
                <a:solidFill>
                  <a:srgbClr val="20282B"/>
                </a:solidFill>
                <a:latin typeface="Consolas"/>
              </a:rPr>
              <a:t>Nhân viên làm thêm giờ trên cơ sở tự nguyện, không bị ép buộc.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B6E64"/>
                </a:solidFill>
                <a:latin typeface="Segoe UI"/>
              </a:rPr>
              <a:t>CHƯƠNG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0282B"/>
                </a:solidFill>
                <a:latin typeface="Segoe UI Semibold"/>
              </a:rPr>
              <a:t>Đánh giá định lượng (Recall@5, MRR)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05840" cy="40640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B5B60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4B5B60"/>
                </a:solidFill>
                <a:latin typeface="Segoe UI"/>
              </a:rPr>
              <a:t>9 câu hỏi thật dựa trên FSoft_HR.pdf, mỗi câu gán sẵn relevant_chunk_ids làm đáp án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468880"/>
            <a:ext cx="4206240" cy="2834640"/>
          </a:xfrm>
          <a:prstGeom prst="roundRect">
            <a:avLst>
              <a:gd name="adj" fmla="val 6000"/>
            </a:avLst>
          </a:prstGeom>
          <a:solidFill>
            <a:srgbClr val="FCFBF7"/>
          </a:solidFill>
          <a:ln w="17780">
            <a:solidFill>
              <a:srgbClr val="2B6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bIns="109728"/>
          <a:lstStyle/>
          <a:p>
            <a:pPr algn="ctr"/>
            <a:r>
              <a:rPr sz="4000" b="1">
                <a:solidFill>
                  <a:srgbClr val="2B6E64"/>
                </a:solidFill>
                <a:latin typeface="Segoe UI Semibold"/>
              </a:rPr>
              <a:t>94,44%</a:t>
            </a:r>
          </a:p>
          <a:p>
            <a:pPr algn="ctr"/>
            <a:r>
              <a:rPr sz="1400">
                <a:solidFill>
                  <a:srgbClr val="4B5B60"/>
                </a:solidFill>
                <a:latin typeface="Segoe UI"/>
              </a:rPr>
              <a:t>Recall@5 — tỉ lệ trung bình chunk đúng
xuất hiện trong top-5 kết quả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4206240" cy="2834640"/>
          </a:xfrm>
          <a:prstGeom prst="roundRect">
            <a:avLst>
              <a:gd name="adj" fmla="val 6000"/>
            </a:avLst>
          </a:prstGeom>
          <a:solidFill>
            <a:srgbClr val="FCFBF7"/>
          </a:solidFill>
          <a:ln w="17780">
            <a:solidFill>
              <a:srgbClr val="C98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bIns="109728"/>
          <a:lstStyle/>
          <a:p>
            <a:pPr algn="ctr"/>
            <a:r>
              <a:rPr sz="4000" b="1">
                <a:solidFill>
                  <a:srgbClr val="C98A2C"/>
                </a:solidFill>
                <a:latin typeface="Segoe UI Semibold"/>
              </a:rPr>
              <a:t>0,787</a:t>
            </a:r>
          </a:p>
          <a:p>
            <a:pPr algn="ctr"/>
            <a:r>
              <a:rPr sz="1400">
                <a:solidFill>
                  <a:srgbClr val="4B5B60"/>
                </a:solidFill>
                <a:latin typeface="Segoe UI"/>
              </a:rPr>
              <a:t>MRR — vị trí trung bình (nghịch đảo)
của chunk đúng đầu tiên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57784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4B5B60"/>
                </a:solidFill>
                <a:latin typeface="Segoe UI"/>
              </a:rPr>
              <a:t>→ Hybrid retrieval (Dense + Sparse + RRF) kết hợp rerank cross-encoder tìm đúng đoạn văn bản liên quan cho phần lớn câu hỏi trong bộ đánh giá.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B6E64"/>
                </a:solidFill>
                <a:latin typeface="Segoe UI"/>
              </a:rPr>
              <a:t>CHƯƠNG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20282B"/>
                </a:solidFill>
                <a:latin typeface="Segoe UI Semibold"/>
              </a:rPr>
              <a:t>Kết luận, hạn chế &amp; hướng phát triển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53312"/>
            <a:ext cx="1005840" cy="40640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4B5B60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B6E64"/>
                </a:solidFill>
                <a:latin typeface="Segoe UI Semibold"/>
              </a:rPr>
              <a:t>Kết luận &amp; hạn chế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>
                <a:solidFill>
                  <a:srgbClr val="C98A2C"/>
                </a:solidFill>
                <a:latin typeface="Segoe UI"/>
              </a:rPr>
              <a:t>— </a:t>
            </a:r>
            <a:r>
              <a:rPr sz="1550">
                <a:solidFill>
                  <a:srgbClr val="20282B"/>
                </a:solidFill>
                <a:latin typeface="Segoe UI"/>
              </a:rPr>
              <a:t>Xây dựng thành công hệ thống Advanced RAG hoàn chỉnh, trả lời đúng dựa trên tài liệu thật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>
                <a:solidFill>
                  <a:srgbClr val="C98A2C"/>
                </a:solidFill>
                <a:latin typeface="Segoe UI"/>
              </a:rPr>
              <a:t>— </a:t>
            </a:r>
            <a:r>
              <a:rPr sz="1550">
                <a:solidFill>
                  <a:srgbClr val="20282B"/>
                </a:solidFill>
                <a:latin typeface="Segoe UI"/>
              </a:rPr>
              <a:t>Chưa hỗ trợ upload file trực tiếp, chưa có xác thực người dùng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>
                <a:solidFill>
                  <a:srgbClr val="C98A2C"/>
                </a:solidFill>
                <a:latin typeface="Segoe UI"/>
              </a:rPr>
              <a:t>— </a:t>
            </a:r>
            <a:r>
              <a:rPr sz="1550">
                <a:solidFill>
                  <a:srgbClr val="20282B"/>
                </a:solidFill>
                <a:latin typeface="Segoe UI"/>
              </a:rPr>
              <a:t>Bộ dữ liệu đánh giá còn nhỏ (9 câu hỏi)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>
                <a:solidFill>
                  <a:srgbClr val="C98A2C"/>
                </a:solidFill>
                <a:latin typeface="Segoe UI"/>
              </a:rPr>
              <a:t>— </a:t>
            </a:r>
            <a:r>
              <a:rPr sz="1550">
                <a:solidFill>
                  <a:srgbClr val="20282B"/>
                </a:solidFill>
                <a:latin typeface="Segoe UI"/>
              </a:rPr>
              <a:t>langchain-community (Chroma) sắp bị sunset, cần theo dõi migration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B6E64"/>
                </a:solidFill>
                <a:latin typeface="Segoe UI Semibold"/>
              </a:rPr>
              <a:t>Hướng phát triển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>
                <a:solidFill>
                  <a:srgbClr val="2B6E64"/>
                </a:solidFill>
                <a:latin typeface="Segoe UI"/>
              </a:rPr>
              <a:t>— </a:t>
            </a:r>
            <a:r>
              <a:rPr sz="1550">
                <a:solidFill>
                  <a:srgbClr val="20282B"/>
                </a:solidFill>
                <a:latin typeface="Segoe UI"/>
              </a:rPr>
              <a:t>Hỗ trợ upload file trực tiếp từ giao diện Streamlit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>
                <a:solidFill>
                  <a:srgbClr val="2B6E64"/>
                </a:solidFill>
                <a:latin typeface="Segoe UI"/>
              </a:rPr>
              <a:t>— </a:t>
            </a:r>
            <a:r>
              <a:rPr sz="1550">
                <a:solidFill>
                  <a:srgbClr val="20282B"/>
                </a:solidFill>
                <a:latin typeface="Segoe UI"/>
              </a:rPr>
              <a:t>Bổ sung trích dẫn (citation) rõ ràng trong câu trả lời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>
                <a:solidFill>
                  <a:srgbClr val="2B6E64"/>
                </a:solidFill>
                <a:latin typeface="Segoe UI"/>
              </a:rPr>
              <a:t>— </a:t>
            </a:r>
            <a:r>
              <a:rPr sz="1550">
                <a:solidFill>
                  <a:srgbClr val="20282B"/>
                </a:solidFill>
                <a:latin typeface="Segoe UI"/>
              </a:rPr>
              <a:t>Mở rộng bộ dữ liệu đánh giá, đo thêm answer-level correctness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>
                <a:solidFill>
                  <a:srgbClr val="2B6E64"/>
                </a:solidFill>
                <a:latin typeface="Segoe UI"/>
              </a:rPr>
              <a:t>— </a:t>
            </a:r>
            <a:r>
              <a:rPr sz="1550">
                <a:solidFill>
                  <a:srgbClr val="20282B"/>
                </a:solidFill>
                <a:latin typeface="Segoe UI"/>
              </a:rPr>
              <a:t>Thử nghiệm nhiều giá trị alpha khác nhau, migrate sang langchain-chroma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Segoe UI Semibold"/>
              </a:rPr>
              <a:t>CẢM ƠN THẦY / CÔ ĐÃ LẮNG NGHE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CFDDD9"/>
                </a:solidFill>
                <a:latin typeface="Segoe UI"/>
              </a:rPr>
              <a:t>Rất mong nhận được góp ý từ thầy/cô và các bạn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